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(₹ crore)</c:v>
                </c:pt>
              </c:strCache>
            </c:strRef>
          </c:tx>
          <c:spPr>
            <a:solidFill>
              <a:srgbClr val="0088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01E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8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00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BB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
10 campuses</c:v>
                  </c:pt>
                  <c:pt idx="1">
                    <c:v>Year 2
100 campuses</c:v>
                  </c:pt>
                  <c:pt idx="2">
                    <c:v>Year 3
500 campuses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5</c:v>
                </c:pt>
                <c:pt idx="2">
                  <c:v>24.8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201E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59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DEDC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5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2F2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SETU. Sanskrit for bridge. We build the layer between a dense web and a brain that cannot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per cent of Indian children have a specific learning disorder. In higher education that is 3.6 million students. The number the system can actually see is 54,080. And the web itself is getting harder — WebAIM's 2026 report is the first in seven years to move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engine, four surfaces. Three things make it defensible. It is local-first, so most of the product costs nothing to run. It degrades instead of failing. And it was rewritten on clinical evidence — a specialist told us bionic reading does not work for dyslexia, and we demoted our own headline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Five beats, roughly 30-35 seconds each. If anything stalls, keep talking and move to the next beat — the recorded fallback is open in the last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active user costs us twenty-five rupees a month, and today it costs zero because the model chain starts free. We sell campus-wide at ninety-nine rupees a student, because the university cannot know which students need it. Year one costs eighteen lakh to build and run — four campuses covers it. And the clinician who reviewed us has already asked for a hospital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the ask, then stop. Do not add anything after 'Thank you'.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TECH4POSITIVE FUTURES 2026   ·   FINALE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1097280"/>
            <a:ext cx="603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12800" dirty="0"/>
          </a:p>
        </p:txBody>
      </p:sp>
      <p:sp>
        <p:nvSpPr>
          <p:cNvPr id="4" name="Text 2"/>
          <p:cNvSpPr/>
          <p:nvPr/>
        </p:nvSpPr>
        <p:spPr>
          <a:xfrm>
            <a:off x="685800" y="2944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Sanskrit for bridge.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45643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cognitive accessibility layer for the students the web was never built for.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5138928"/>
            <a:ext cx="219456" cy="219456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5138928"/>
            <a:ext cx="219456" cy="219456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5138928"/>
            <a:ext cx="219456" cy="219456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9" name="Shape 7"/>
          <p:cNvSpPr/>
          <p:nvPr/>
        </p:nvSpPr>
        <p:spPr>
          <a:xfrm>
            <a:off x="1591056" y="5138928"/>
            <a:ext cx="219456" cy="219456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577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 ·  Web workspace  ·  Android app  ·  One shared engine  —  all live today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078992"/>
            <a:ext cx="44805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1185977"/>
            <a:ext cx="32918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292962"/>
            <a:ext cx="457200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9752" y="1399946"/>
            <a:ext cx="256032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22008" y="1506931"/>
            <a:ext cx="40233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1613916"/>
            <a:ext cx="46634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720901"/>
            <a:ext cx="28346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1827886"/>
            <a:ext cx="429768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8936" y="1934870"/>
            <a:ext cx="21945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2041855"/>
            <a:ext cx="457200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2148840"/>
            <a:ext cx="35661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85432" y="2255825"/>
            <a:ext cx="42062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0064" y="2362810"/>
            <a:ext cx="26517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2469794"/>
            <a:ext cx="46634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2576779"/>
            <a:ext cx="31089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976872" y="2683764"/>
            <a:ext cx="384048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3216" y="2790749"/>
            <a:ext cx="237744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2897734"/>
            <a:ext cx="44805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7123176" y="3004718"/>
            <a:ext cx="338328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958584" y="3111703"/>
            <a:ext cx="4023360" cy="43891"/>
          </a:xfrm>
          <a:prstGeom prst="rect">
            <a:avLst/>
          </a:prstGeom>
          <a:solidFill>
            <a:srgbClr val="454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812280" y="3383280"/>
            <a:ext cx="384048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2280" y="3534156"/>
            <a:ext cx="347472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12280" y="3685032"/>
            <a:ext cx="402336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4" name="Shape 32"/>
          <p:cNvSpPr/>
          <p:nvPr/>
        </p:nvSpPr>
        <p:spPr>
          <a:xfrm>
            <a:off x="6812280" y="3835908"/>
            <a:ext cx="329184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2280" y="3986784"/>
            <a:ext cx="420624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6" name="Shape 34"/>
          <p:cNvSpPr/>
          <p:nvPr/>
        </p:nvSpPr>
        <p:spPr>
          <a:xfrm>
            <a:off x="6812280" y="4137660"/>
            <a:ext cx="3657600" cy="47549"/>
          </a:xfrm>
          <a:prstGeom prst="rect">
            <a:avLst/>
          </a:prstGeom>
          <a:solidFill>
            <a:srgbClr val="5E5956"/>
          </a:solidFill>
          <a:ln/>
        </p:spPr>
      </p:sp>
      <p:sp>
        <p:nvSpPr>
          <p:cNvPr id="37" name="Shape 35"/>
          <p:cNvSpPr/>
          <p:nvPr/>
        </p:nvSpPr>
        <p:spPr>
          <a:xfrm>
            <a:off x="6812280" y="4590288"/>
            <a:ext cx="4160520" cy="274320"/>
          </a:xfrm>
          <a:prstGeom prst="roundRect">
            <a:avLst>
              <a:gd name="adj" fmla="val 16667"/>
            </a:avLst>
          </a:prstGeom>
          <a:solidFill>
            <a:srgbClr val="0088B0"/>
          </a:solidFill>
          <a:ln/>
        </p:spPr>
      </p:sp>
      <p:sp>
        <p:nvSpPr>
          <p:cNvPr id="38" name="Shape 36"/>
          <p:cNvSpPr/>
          <p:nvPr/>
        </p:nvSpPr>
        <p:spPr>
          <a:xfrm>
            <a:off x="6812280" y="5047488"/>
            <a:ext cx="3520440" cy="274320"/>
          </a:xfrm>
          <a:prstGeom prst="roundRect">
            <a:avLst>
              <a:gd name="adj" fmla="val 16667"/>
            </a:avLst>
          </a:prstGeom>
          <a:solidFill>
            <a:srgbClr val="D6006C"/>
          </a:solidFill>
          <a:ln/>
        </p:spPr>
      </p:sp>
      <p:sp>
        <p:nvSpPr>
          <p:cNvPr id="39" name="Shape 37"/>
          <p:cNvSpPr/>
          <p:nvPr/>
        </p:nvSpPr>
        <p:spPr>
          <a:xfrm>
            <a:off x="6812280" y="5504688"/>
            <a:ext cx="2880360" cy="274320"/>
          </a:xfrm>
          <a:prstGeom prst="roundRect">
            <a:avLst>
              <a:gd name="adj" fmla="val 16667"/>
            </a:avLst>
          </a:prstGeom>
          <a:solidFill>
            <a:srgbClr val="EDBB00"/>
          </a:solidFill>
          <a:ln/>
        </p:spPr>
      </p:sp>
      <p:sp>
        <p:nvSpPr>
          <p:cNvPr id="40" name="Text 38"/>
          <p:cNvSpPr/>
          <p:nvPr/>
        </p:nvSpPr>
        <p:spPr>
          <a:xfrm>
            <a:off x="6812280" y="6053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  →   one next step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&amp; 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million students. 54,080 counted.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learning disorders affect 8% of Indian children. Indian higher education formally registers one student in a thousand as disabled. Everyone else copes alone.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HIGHER EDUCATION  ·  45.0 MILLION STUDENTS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5623560" cy="493776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59152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3,600,000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dyslexia, dysgraphia or dyscalculia  —  8% pooled prevalence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456432"/>
            <a:ext cx="84125" cy="493776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3456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54,080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331720" y="34564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that sliver is the entire bar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registered with a benchmark disability  —  0.1% of enrolment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gap — roughly 3.5 million students — is the market and the reason.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50474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 2023–24  ·  Scaria, Bhaskaran &amp; George, Indian J Psychol Med 2023 — meta-analysis, 8,133 children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84848" y="2011680"/>
            <a:ext cx="4901184" cy="3054096"/>
          </a:xfrm>
          <a:prstGeom prst="roundRect">
            <a:avLst>
              <a:gd name="adj" fmla="val 1796"/>
            </a:avLst>
          </a:prstGeom>
          <a:solidFill>
            <a:srgbClr val="EAE9E9"/>
          </a:solidFill>
          <a:ln/>
        </p:spPr>
      </p:sp>
      <p:sp>
        <p:nvSpPr>
          <p:cNvPr id="16" name="Text 14"/>
          <p:cNvSpPr/>
          <p:nvPr/>
        </p:nvSpPr>
        <p:spPr>
          <a:xfrm>
            <a:off x="7114032" y="22494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WEB IS MOVING AWAY FROM THEM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86600" y="250545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0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114032" y="3310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1,000,000 home pages fail WCAG — up from 94.8% a year ago.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38039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114032" y="43342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errors per page, up 10.1% in twelve months.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4032" y="47000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Million, 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41324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AE9E9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577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" y="5852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page aloud.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19272" y="541324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AE9E9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5577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TOOLS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38728" y="5852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Restyle the text.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35624" y="541324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AE9E9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5577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5852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questions about it.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951976" y="5413248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0088B0"/>
          </a:solidFill>
          <a:ln/>
        </p:spPr>
      </p:sp>
      <p:sp>
        <p:nvSpPr>
          <p:cNvPr id="32" name="Text 30"/>
          <p:cNvSpPr/>
          <p:nvPr/>
        </p:nvSpPr>
        <p:spPr>
          <a:xfrm>
            <a:off x="9171432" y="5577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71432" y="5852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the task finished.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·  UNIQUE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 behind four surfaces.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Chrome extension, a web workspace, an Android app and a shared AI engine — deployed, running, and speaking eleven Indian languages.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48256"/>
            <a:ext cx="5120640" cy="896112"/>
          </a:xfrm>
          <a:prstGeom prst="roundRect">
            <a:avLst>
              <a:gd name="adj" fmla="val 6122"/>
            </a:avLst>
          </a:prstGeom>
          <a:solidFill>
            <a:srgbClr val="0088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MongoDB  ·  53 endpoints  ·  9 cognitive modes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98448" y="2944368"/>
            <a:ext cx="20117" cy="475488"/>
          </a:xfrm>
          <a:prstGeom prst="rect">
            <a:avLst/>
          </a:prstGeom>
          <a:solidFill>
            <a:srgbClr val="C9C6C4"/>
          </a:solidFill>
          <a:ln/>
        </p:spPr>
      </p:sp>
      <p:sp>
        <p:nvSpPr>
          <p:cNvPr id="9" name="Shape 7"/>
          <p:cNvSpPr/>
          <p:nvPr/>
        </p:nvSpPr>
        <p:spPr>
          <a:xfrm>
            <a:off x="3063240" y="2944368"/>
            <a:ext cx="20117" cy="475488"/>
          </a:xfrm>
          <a:prstGeom prst="rect">
            <a:avLst/>
          </a:prstGeom>
          <a:solidFill>
            <a:srgbClr val="C9C6C4"/>
          </a:solidFill>
          <a:ln/>
        </p:spPr>
      </p:sp>
      <p:sp>
        <p:nvSpPr>
          <p:cNvPr id="10" name="Shape 8"/>
          <p:cNvSpPr/>
          <p:nvPr/>
        </p:nvSpPr>
        <p:spPr>
          <a:xfrm>
            <a:off x="4828032" y="2944368"/>
            <a:ext cx="20117" cy="475488"/>
          </a:xfrm>
          <a:prstGeom prst="rect">
            <a:avLst/>
          </a:prstGeom>
          <a:solidFill>
            <a:srgbClr val="C9C6C4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419856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EAE9E9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584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38587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content scripts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v3.2.0, store-ready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63140" y="3419856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EAE9E9"/>
          </a:solidFill>
          <a:ln/>
        </p:spPr>
      </p:sp>
      <p:sp>
        <p:nvSpPr>
          <p:cNvPr id="15" name="Text 13"/>
          <p:cNvSpPr/>
          <p:nvPr/>
        </p:nvSpPr>
        <p:spPr>
          <a:xfrm>
            <a:off x="2427732" y="3584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6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7732" y="38587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maps, 9 modes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0" y="3419856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EAE9E9"/>
          </a:solidFill>
          <a:ln/>
        </p:spPr>
      </p:sp>
      <p:sp>
        <p:nvSpPr>
          <p:cNvPr id="18" name="Text 16"/>
          <p:cNvSpPr/>
          <p:nvPr/>
        </p:nvSpPr>
        <p:spPr>
          <a:xfrm>
            <a:off x="4187952" y="3584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87952" y="38587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camera OCR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≈50,000 lines  ·  160 source files  ·  32-point automated smoke test  ·  built and deployed by five final-year students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setu-amber.vercel.app   ·   setu-37hl.onrender.com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2048256"/>
            <a:ext cx="365760" cy="36576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20299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2286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reading tools run entirely inside the browser. No server call, no cost per use, and they keep working with the network off.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054096"/>
            <a:ext cx="365760" cy="36576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73952" y="303580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DEGRADES, NEVER FAILS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73952" y="3291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draws an answer from the page in under a second, then upgrades it. Free model tier → paid → deterministic offline engine.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4059936"/>
            <a:ext cx="365760" cy="365760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73952" y="40416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ON CLINICAL EVIDENCE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73952" y="4297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told us our headline feature does not work. We demoted our own flagship and rebuilt around comprehension.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5120640"/>
            <a:ext cx="5742432" cy="1335024"/>
          </a:xfrm>
          <a:prstGeom prst="roundRect">
            <a:avLst>
              <a:gd name="adj" fmla="val 4110"/>
            </a:avLst>
          </a:prstGeom>
          <a:solidFill>
            <a:srgbClr val="201E1D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524865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“Bigger fonts don’t help. The difficulty is comprehension, not eyesight.”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17920" y="56692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DB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Prakhar Jain  ·  clinical review  ·  17 August 2026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59253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Numbers mode for dyscalculia, a picture mode that carries no text, and a crisis path that never reaches a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DB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DEMONSTRATION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8580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video. This laptop. Right now.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3072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Five moments.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66960" y="1188720"/>
            <a:ext cx="274320" cy="27432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7" name="Shape 5"/>
          <p:cNvSpPr/>
          <p:nvPr/>
        </p:nvSpPr>
        <p:spPr>
          <a:xfrm>
            <a:off x="10323576" y="1188720"/>
            <a:ext cx="274320" cy="27432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8" name="Shape 6"/>
          <p:cNvSpPr/>
          <p:nvPr/>
        </p:nvSpPr>
        <p:spPr>
          <a:xfrm>
            <a:off x="10680192" y="1188720"/>
            <a:ext cx="274320" cy="274320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9" name="Shape 7"/>
          <p:cNvSpPr/>
          <p:nvPr/>
        </p:nvSpPr>
        <p:spPr>
          <a:xfrm>
            <a:off x="11036808" y="1188720"/>
            <a:ext cx="274320" cy="27432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534924" y="3931920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2B2827"/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" y="4133088"/>
            <a:ext cx="347472" cy="347472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" y="4590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3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6092" y="4864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registration form. Fourteen fields, three warnings, no order.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93492" y="3931920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2B2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4660" y="4133088"/>
            <a:ext cx="347472" cy="347472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17" name="Text 15"/>
          <p:cNvSpPr/>
          <p:nvPr/>
        </p:nvSpPr>
        <p:spPr>
          <a:xfrm>
            <a:off x="299466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94660" y="4590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3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94660" y="4864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appear in under a second. Nothing left the browser.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52060" y="3931920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2B2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3228" y="4133088"/>
            <a:ext cx="347472" cy="347472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22" name="Text 20"/>
          <p:cNvSpPr/>
          <p:nvPr/>
        </p:nvSpPr>
        <p:spPr>
          <a:xfrm>
            <a:off x="5253228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3228" y="4590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3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3228" y="4864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the form — then stops before submitting, and asks.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0628" y="3931920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2B2827"/>
          </a:solidFill>
          <a:ln/>
        </p:spPr>
      </p:sp>
      <p:sp>
        <p:nvSpPr>
          <p:cNvPr id="26" name="Shape 24"/>
          <p:cNvSpPr/>
          <p:nvPr/>
        </p:nvSpPr>
        <p:spPr>
          <a:xfrm>
            <a:off x="7511796" y="4133088"/>
            <a:ext cx="347472" cy="347472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7" name="Text 25"/>
          <p:cNvSpPr/>
          <p:nvPr/>
        </p:nvSpPr>
        <p:spPr>
          <a:xfrm>
            <a:off x="7511796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11796" y="4590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3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11796" y="4864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branch on the map. It speaks. In Tamil.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569196" y="3931920"/>
            <a:ext cx="2084832" cy="1874520"/>
          </a:xfrm>
          <a:prstGeom prst="roundRect">
            <a:avLst>
              <a:gd name="adj" fmla="val 2927"/>
            </a:avLst>
          </a:prstGeom>
          <a:solidFill>
            <a:srgbClr val="2B2827"/>
          </a:solidFill>
          <a:ln/>
        </p:spPr>
      </p:sp>
      <p:sp>
        <p:nvSpPr>
          <p:cNvPr id="31" name="Shape 29"/>
          <p:cNvSpPr/>
          <p:nvPr/>
        </p:nvSpPr>
        <p:spPr>
          <a:xfrm>
            <a:off x="9770364" y="4133088"/>
            <a:ext cx="347472" cy="347472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32" name="Text 30"/>
          <p:cNvSpPr/>
          <p:nvPr/>
        </p:nvSpPr>
        <p:spPr>
          <a:xfrm>
            <a:off x="9770364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70364" y="4590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3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70364" y="4864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on the phone, picked up mid-sentence.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setu-amber.vercel.app   ·   engine live   ·   Chrome extension v3.2.0, Manifest V3   ·   recorded fallback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·  MODEL  · 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at four campuses.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the business model: most of what SETU does costs us nothing to run.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ACTIVE USER COSTS US PER MONTH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5488" y="223113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91640" y="2615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72384"/>
            <a:ext cx="1082650" cy="36576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9" name="Shape 7"/>
          <p:cNvSpPr/>
          <p:nvPr/>
        </p:nvSpPr>
        <p:spPr>
          <a:xfrm>
            <a:off x="1585570" y="3072384"/>
            <a:ext cx="2029968" cy="36576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10" name="Shape 8"/>
          <p:cNvSpPr/>
          <p:nvPr/>
        </p:nvSpPr>
        <p:spPr>
          <a:xfrm>
            <a:off x="3615538" y="3072384"/>
            <a:ext cx="270662" cy="365760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643884"/>
            <a:ext cx="137160" cy="13716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027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36027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— Gemini 2.5 Flash, ~30 operations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986784"/>
            <a:ext cx="137160" cy="137160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456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9456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voice — Sarvam Bulbul, ~10,000 characters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329684"/>
            <a:ext cx="137160" cy="137160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885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42885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cross-device sync — MongoDB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672584"/>
            <a:ext cx="137160" cy="137160"/>
          </a:xfrm>
          <a:prstGeom prst="rect">
            <a:avLst/>
          </a:prstGeom>
          <a:solidFill>
            <a:srgbClr val="C9C6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314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6314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local tools — they never call us at 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5102352"/>
            <a:ext cx="3383280" cy="786384"/>
          </a:xfrm>
          <a:prstGeom prst="roundRect">
            <a:avLst>
              <a:gd name="adj" fmla="val 6977"/>
            </a:avLst>
          </a:prstGeom>
          <a:solidFill>
            <a:srgbClr val="EAE9E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9379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₹0. The model chain starts on free tiers and ends in a deterministic offline engine. Infrastructure spend to date: ₹0.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1993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SELL 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2286000"/>
            <a:ext cx="3291840" cy="1078992"/>
          </a:xfrm>
          <a:prstGeom prst="roundRect">
            <a:avLst>
              <a:gd name="adj" fmla="val 5085"/>
            </a:avLst>
          </a:prstGeom>
          <a:solidFill>
            <a:srgbClr val="EAE9E9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24140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62272" y="26426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 per student, per year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62272" y="293522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campus-wide, because 98.5% of the students who need it were never diagnosed.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3511296"/>
            <a:ext cx="3291840" cy="1078992"/>
          </a:xfrm>
          <a:prstGeom prst="roundRect">
            <a:avLst>
              <a:gd name="adj" fmla="val 5085"/>
            </a:avLst>
          </a:prstGeom>
          <a:solidFill>
            <a:srgbClr val="EAE9E9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36393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60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62272" y="3867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₹499 per employee, per year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62272" y="4160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Accessibility Act in force since June 2025. RPwD Act and GIGW here.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4736592"/>
            <a:ext cx="3291840" cy="1078992"/>
          </a:xfrm>
          <a:prstGeom prst="roundRect">
            <a:avLst>
              <a:gd name="adj" fmla="val 5085"/>
            </a:avLst>
          </a:prstGeom>
          <a:solidFill>
            <a:srgbClr val="EAE9E9"/>
          </a:solidFill>
          <a:ln/>
        </p:spPr>
      </p:sp>
      <p:sp>
        <p:nvSpPr>
          <p:cNvPr id="35" name="Text 33"/>
          <p:cNvSpPr/>
          <p:nvPr/>
        </p:nvSpPr>
        <p:spPr>
          <a:xfrm>
            <a:off x="4462272" y="486460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0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62272" y="50932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forever  ·  ₹199 a month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462272" y="53858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tier costs us nothing to serve. That is the growth loop, not a subsidy.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09560" y="1993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A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95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7818120" y="2231136"/>
          <a:ext cx="388620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7909560" y="4809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5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campuses is 1% of India’s 48,246 colleges. Gross margin at that scale: ~64%.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09560" y="5321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Year-one build and run: ₹18 lakh. Four campus licences cover it.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02920" y="603504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D6006C"/>
          </a:solidFill>
          <a:ln/>
        </p:spPr>
      </p:sp>
      <p:sp>
        <p:nvSpPr>
          <p:cNvPr id="43" name="Text 40"/>
          <p:cNvSpPr/>
          <p:nvPr/>
        </p:nvSpPr>
        <p:spPr>
          <a:xfrm>
            <a:off x="777240" y="6035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Prakhar Jain, the specialist who reviewed SETU, has offered to build a version of it for his hospitals — inbound demand, before we launched.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DB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46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was the disability.</a:t>
            </a:r>
            <a:endParaRPr lang="en-US" sz="4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600" b="1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person.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6027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WILL MEASURE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3913632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2B28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first 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517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landing on the page to doing something.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72384" y="3913632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2B2827"/>
          </a:solidFill>
          <a:ln/>
        </p:spPr>
      </p:sp>
      <p:sp>
        <p:nvSpPr>
          <p:cNvPr id="9" name="Text 7"/>
          <p:cNvSpPr/>
          <p:nvPr/>
        </p:nvSpPr>
        <p:spPr>
          <a:xfrm>
            <a:off x="3255264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completion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55264" y="4517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dense, multi-step forms.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58968" y="3913632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2B2827"/>
          </a:solidFill>
          <a:ln/>
        </p:spPr>
      </p:sp>
      <p:sp>
        <p:nvSpPr>
          <p:cNvPr id="12" name="Text 10"/>
          <p:cNvSpPr/>
          <p:nvPr/>
        </p:nvSpPr>
        <p:spPr>
          <a:xfrm>
            <a:off x="5641848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completion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41848" y="4517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without asking anyone for help.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3529584"/>
            <a:ext cx="3401568" cy="2286000"/>
          </a:xfrm>
          <a:prstGeom prst="roundRect">
            <a:avLst>
              <a:gd name="adj" fmla="val 2400"/>
            </a:avLst>
          </a:prstGeom>
          <a:solidFill>
            <a:srgbClr val="2B2827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3712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DB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21624" y="40416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pilot campus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21624" y="4279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Capgemini client, this semester.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21624" y="46085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21624" y="4846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university disability-support office.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21624" y="51755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SETU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21624" y="5413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finale — and we will publish the numbers.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6053328"/>
            <a:ext cx="201168" cy="201168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6053328"/>
            <a:ext cx="201168" cy="201168"/>
          </a:xfrm>
          <a:prstGeom prst="rect">
            <a:avLst/>
          </a:prstGeom>
          <a:solidFill>
            <a:srgbClr val="D6006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52728" y="6053328"/>
            <a:ext cx="201168" cy="201168"/>
          </a:xfrm>
          <a:prstGeom prst="rect">
            <a:avLst/>
          </a:prstGeom>
          <a:solidFill>
            <a:srgbClr val="EDBB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6192" y="6053328"/>
            <a:ext cx="201168" cy="201168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6016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Sanskrit for bridge  ·  Capgemini Tech4Positive Futures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— Capgemini Tech4Positive Futures 2026 Finale</dc:title>
  <dc:subject>PptxGenJS Presentation</dc:subject>
  <dc:creator>Team SETU</dc:creator>
  <cp:lastModifiedBy>Team SETU</cp:lastModifiedBy>
  <cp:revision>1</cp:revision>
  <dcterms:created xsi:type="dcterms:W3CDTF">2026-08-23T06:15:15Z</dcterms:created>
  <dcterms:modified xsi:type="dcterms:W3CDTF">2026-08-23T06:15:15Z</dcterms:modified>
</cp:coreProperties>
</file>